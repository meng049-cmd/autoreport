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算：CG偏移[D−5,D]，0x14[D−7,D]，自然日且含起訖日；取期間內全部過帳供應商聯集。原始不良率與重複日期逐筆保留。統計為資料筆數且包含0不良率；無產量資料，不計算供應商合併不良率。窗口前段早於最早過帳資料7/1者可能缺候選；實際用料需工單與CG批號確認。全部141筆的完整匹配與過帳原始列號見附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228600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7324D"/>
                </a:solidFill>
                <a:latin typeface="Noto Sans CJK TC"/>
              </a:defRPr>
            </a:pPr>
            <a:r>
              <a:t>CG 偏移／0x14｜回溯過帳供應商分析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31520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CG 偏移：[D−5 天, D]　｜　0x14：[D−7 天, D]　｜　自然日、含起訖日、不良率保留原值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78992"/>
            <a:ext cx="11393424" cy="676656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7324D"/>
                </a:solidFill>
                <a:latin typeface="Noto Sans CJK TC"/>
              </a:defRPr>
            </a:pPr>
            <a:r>
              <a:t>CG 9/4 與 0x14 10/6 的最高紀錄，回溯期間均符合兩家供應商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45336"/>
            <a:ext cx="109728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4748B"/>
                </a:solidFill>
                <a:latin typeface="Noto Sans CJK TC"/>
              </a:defRPr>
            </a:pPr>
            <a:r>
              <a:t>10/6 0x14 回溯 9/29–10/6：9/30 菲比特 → 10/1 菲比特＋銳歐 → 10/6 菲比特，故列兩家候選。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938528"/>
            <a:ext cx="3712463" cy="6400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3493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7324D"/>
                </a:solidFill>
                <a:latin typeface="Noto Sans CJK TC"/>
              </a:defRPr>
            </a:pPr>
            <a:r>
              <a:t>兩家候選：菲比特＋銳歐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3493007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64748B"/>
                </a:solidFill>
                <a:latin typeface="Noto Sans CJK TC"/>
              </a:defRPr>
            </a:pPr>
            <a:r>
              <a:t>CG：51/69 筆（73.9%）　0x14：63/72 筆（87.5%）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938528"/>
            <a:ext cx="3712463" cy="6400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3493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7324D"/>
                </a:solidFill>
                <a:latin typeface="Noto Sans CJK TC"/>
              </a:defRPr>
            </a:pPr>
            <a:r>
              <a:t>僅符合菲比特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04288"/>
            <a:ext cx="3493007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64748B"/>
                </a:solidFill>
                <a:latin typeface="Noto Sans CJK TC"/>
              </a:defRPr>
            </a:pPr>
            <a:r>
              <a:t>CG：17/69 筆　0x14：9/72 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938528"/>
            <a:ext cx="3712463" cy="6400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002536"/>
            <a:ext cx="3493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7324D"/>
                </a:solidFill>
                <a:latin typeface="Noto Sans CJK TC"/>
              </a:defRPr>
            </a:pPr>
            <a:r>
              <a:t>無符合過帳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04288"/>
            <a:ext cx="3493007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64748B"/>
                </a:solidFill>
                <a:latin typeface="Noto Sans CJK TC"/>
              </a:defRPr>
            </a:pPr>
            <a:r>
              <a:t>CG：1 筆（9/29）　0x14：0 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660904"/>
            <a:ext cx="109728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64748B"/>
                </a:solidFill>
                <a:latin typeface="Noto Sans CJK TC"/>
              </a:defRPr>
            </a:pPr>
            <a:r>
              <a:t>全部原始資料筆數，包含 0 不良率；兩類均無「僅銳歐」紀錄。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017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7324D"/>
                </a:solidFill>
                <a:latin typeface="Noto Sans CJK TC"/>
              </a:defRPr>
            </a:pPr>
            <a:r>
              <a:t>逐筆不良率｜依回溯供應商分類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401568"/>
            <a:ext cx="109728" cy="109728"/>
          </a:xfrm>
          <a:prstGeom prst="rect">
            <a:avLst/>
          </a:prstGeom>
          <a:solidFill>
            <a:srgbClr val="DB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" y="335584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兩家候選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56231" y="3401568"/>
            <a:ext cx="109728" cy="109728"/>
          </a:xfrm>
          <a:prstGeom prst="rect">
            <a:avLst/>
          </a:prstGeom>
          <a:solidFill>
            <a:srgbClr val="0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7" y="335584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僅菲比特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3401568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335584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無符合過帳</a:t>
            </a:r>
          </a:p>
        </p:txBody>
      </p:sp>
      <p:pic>
        <p:nvPicPr>
          <p:cNvPr id="25" name="Picture 24" descr="lookback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3685032"/>
            <a:ext cx="5769864" cy="23225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81928" y="3017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7324D"/>
                </a:solidFill>
                <a:latin typeface="Noto Sans CJK TC"/>
              </a:defRPr>
            </a:pPr>
            <a:r>
              <a:t>高峰與後續日期｜回溯結果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281928" y="3419856"/>
          <a:ext cx="550468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603504"/>
                <a:gridCol w="941832"/>
                <a:gridCol w="1472184"/>
                <a:gridCol w="1920240"/>
              </a:tblGrid>
              <a:tr h="30175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指標</a:t>
                      </a:r>
                    </a:p>
                  </a:txBody>
                  <a:tcPr marL="54864" marR="18288" marT="27432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日期</a:t>
                      </a:r>
                    </a:p>
                  </a:txBody>
                  <a:tcPr marL="54864" marR="18288" marT="27432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不良率</a:t>
                      </a:r>
                    </a:p>
                  </a:txBody>
                  <a:tcPr marL="54864" marR="18288" marT="27432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回溯期間</a:t>
                      </a:r>
                    </a:p>
                  </a:txBody>
                  <a:tcPr marL="54864" marR="18288" marT="27432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供應商候選</a:t>
                      </a:r>
                    </a:p>
                  </a:txBody>
                  <a:tcPr marL="54864" marR="18288" marT="27432" marB="0" anchor="ctr">
                    <a:solidFill>
                      <a:srgbClr val="1732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CG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8/13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1.67%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8/8–8/13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兩家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CG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9/4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2.83%*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8/30–9/4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兩家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10/5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9.60%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9/28–10/5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兩家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54864" marR="18288" marT="27432" marB="0" anchor="ctr">
                    <a:solidFill>
                      <a:srgbClr val="FFF2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10/6</a:t>
                      </a:r>
                    </a:p>
                  </a:txBody>
                  <a:tcPr marL="54864" marR="18288" marT="27432" marB="0" anchor="ctr">
                    <a:solidFill>
                      <a:srgbClr val="FFF2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14.45%</a:t>
                      </a:r>
                    </a:p>
                  </a:txBody>
                  <a:tcPr marL="54864" marR="18288" marT="27432" marB="0" anchor="ctr">
                    <a:solidFill>
                      <a:srgbClr val="FFF2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9/29–10/6</a:t>
                      </a:r>
                    </a:p>
                  </a:txBody>
                  <a:tcPr marL="54864" marR="18288" marT="27432" marB="0" anchor="ctr">
                    <a:solidFill>
                      <a:srgbClr val="FFF2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兩家</a:t>
                      </a:r>
                    </a:p>
                  </a:txBody>
                  <a:tcPr marL="54864" marR="18288" marT="27432" marB="0" anchor="ctr">
                    <a:solidFill>
                      <a:srgbClr val="FFF2D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10/7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8.56%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9/30–10/7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兩家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10/12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1.56%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10/5–10/12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54864" marR="18288" marT="27432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10/13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0.19%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10/6–10/13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54864" marR="18288" marT="27432" marB="0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309360" y="5925312"/>
            <a:ext cx="5486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Noto Sans CJK TC"/>
              </a:defRPr>
            </a:pPr>
            <a:r>
              <a:t>兩家＝菲比特＋銳歐；* 9/4 另有一筆 CG 0%，逐筆保留。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" y="6281928"/>
            <a:ext cx="11393424" cy="347472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" y="6345936"/>
            <a:ext cx="11064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7324D"/>
                </a:solidFill>
                <a:latin typeface="Noto Sans CJK TC"/>
              </a:defRPr>
            </a:pPr>
            <a:r>
              <a:t>判讀：依指定跨度推定使用供應商候選；兩家重疊期間無法分攤不良，實際用料需工單／CG 批號確認。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684264"/>
            <a:ext cx="113385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Noto Sans CJK TC"/>
              </a:defRPr>
            </a:pPr>
            <a:r>
              <a:t>來源：DAF_0x14彙整.xlsx 工作表2；月日依過帳日期推定2026年。7/1前過帳未提供；CG無10月資料；逐筆匹配詳見附表。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CG偏移5天、0x14 7天回溯過帳供應商分析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