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選期比對沿用CG[D−5,D]、0x14[D−7,D]。工作表1補充投入與不良數並逐筆核對工作表2日期及不良率。涉及不良占比為供應商候選列的不良數／全部原始列不良數；兩家重疊在兩家欄各列入，不能相加或解讀責任比例。候選期不良率以不良數加總／投入數加總計算；非供應商實際不良率。銳歐候選期間為兩家共同期，無銳歐獨立期，無法從此資料判定因果或責任。保留重複日期原始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219456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7324D"/>
                </a:solidFill>
                <a:latin typeface="Noto Sans CJK TC"/>
              </a:defRPr>
            </a:pPr>
            <a:r>
              <a:t>兩家 CG 供應商｜不良涉及比例與集中性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31520"/>
            <a:ext cx="113385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4748B"/>
                </a:solidFill>
                <a:latin typeface="Noto Sans CJK TC"/>
              </a:defRPr>
            </a:pPr>
            <a:r>
              <a:t>CG 回溯 5 天、0x14 回溯 7 天（含起訖日）｜投入／不良數取工作表1，逐筆核對工作表2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1042415"/>
            <a:ext cx="11393424" cy="704088"/>
          </a:xfrm>
          <a:prstGeom prst="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247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50" b="1">
                <a:solidFill>
                  <a:srgbClr val="17324D"/>
                </a:solidFill>
                <a:latin typeface="Noto Sans CJK TC"/>
              </a:defRPr>
            </a:pPr>
            <a:r>
              <a:t>0x14 銳歐候選期較高；CG 整體菲比特候選期略高，仍無法判定責任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4748B"/>
                </a:solidFill>
                <a:latin typeface="Noto Sans CJK TC"/>
              </a:defRPr>
            </a:pPr>
            <a:r>
              <a:t>所有銳歐候選區間同時符合菲比特；沒有「僅銳歐」對照，表列為候選期間指標，非供應商自身不良率。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3852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7324D"/>
                </a:solidFill>
                <a:latin typeface="Noto Sans CJK TC"/>
              </a:defRPr>
            </a:pPr>
            <a:r>
              <a:t>個別涉及比例與加權不良率｜兩家共同窗口各自列入，比例可重疊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2340864"/>
          <a:ext cx="11347704" cy="1664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97864"/>
                <a:gridCol w="2697480"/>
                <a:gridCol w="2157984"/>
                <a:gridCol w="2075688"/>
                <a:gridCol w="2395728"/>
              </a:tblGrid>
              <a:tr h="33284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指標</a:t>
                      </a:r>
                    </a:p>
                  </a:txBody>
                  <a:tcPr marL="91440" marR="22860" marT="22860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供應商</a:t>
                      </a:r>
                    </a:p>
                  </a:txBody>
                  <a:tcPr marL="91440" marR="22860" marT="22860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涉及不良數／總不良數</a:t>
                      </a:r>
                    </a:p>
                  </a:txBody>
                  <a:tcPr marL="91440" marR="22860" marT="22860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涉及不良占比</a:t>
                      </a:r>
                    </a:p>
                  </a:txBody>
                  <a:tcPr marL="91440" marR="22860" marT="22860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候選期投入數</a:t>
                      </a:r>
                    </a:p>
                  </a:txBody>
                  <a:tcPr marL="91440" marR="22860" marT="22860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候選期不良率</a:t>
                      </a:r>
                    </a:p>
                  </a:txBody>
                  <a:tcPr marL="91440" marR="22860" marT="22860" marB="0" anchor="ctr">
                    <a:solidFill>
                      <a:srgbClr val="17324D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CG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932 / 943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98.8%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319,242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0.292%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CG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銳歐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660 / 943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70.0%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235,764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0.280%</a:t>
                      </a:r>
                    </a:p>
                  </a:txBody>
                  <a:tcPr marL="91440" marR="22860" marT="22860" marB="0" anchor="ctr">
                    <a:solidFill>
                      <a:srgbClr val="EFF7F5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2,623 / 2,623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100.0%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351,575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0.746%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銳歐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2,453 / 2,623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93.5%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301,046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0.815%</a:t>
                      </a:r>
                    </a:p>
                  </a:txBody>
                  <a:tcPr marL="91440" marR="22860" marT="22860" marB="0" anchor="ctr">
                    <a:solidFill>
                      <a:srgbClr val="FFF5E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9768" y="4105656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共同候選不良占比：CG 660/943＝70.0%；0x14 2,453/2,623＝93.5%。涉及占比不是責任分攤，不能相加為100%。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89704"/>
            <a:ext cx="7315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7324D"/>
                </a:solidFill>
                <a:latin typeface="Noto Sans CJK TC"/>
              </a:defRPr>
            </a:pPr>
            <a:r>
              <a:t>集中月份｜各候選期不良數 ÷ 同期間投入數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4882896"/>
            <a:ext cx="118872" cy="91440"/>
          </a:xfrm>
          <a:prstGeom prst="rect">
            <a:avLst/>
          </a:prstGeom>
          <a:solidFill>
            <a:srgbClr val="0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4809744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菲比特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2" y="4882896"/>
            <a:ext cx="118872" cy="91440"/>
          </a:xfrm>
          <a:prstGeom prst="rect">
            <a:avLst/>
          </a:prstGeom>
          <a:solidFill>
            <a:srgbClr val="D6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4809744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銳歐</a:t>
            </a:r>
          </a:p>
        </p:txBody>
      </p:sp>
      <p:pic>
        <p:nvPicPr>
          <p:cNvPr id="16" name="Picture 15" descr="supplier_comparison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5102352"/>
            <a:ext cx="7333488" cy="1572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19288" y="4489704"/>
            <a:ext cx="363931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7324D"/>
                </a:solidFill>
                <a:latin typeface="Noto Sans CJK TC"/>
              </a:defRPr>
            </a:pPr>
            <a:r>
              <a:t>全體不良數集中：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873752"/>
            <a:ext cx="3712463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50" b="0">
                <a:solidFill>
                  <a:srgbClr val="17324D"/>
                </a:solidFill>
                <a:latin typeface="Noto Sans CJK TC"/>
              </a:defRPr>
            </a:pPr>
            <a:r>
              <a:t>CG：9 月 657/943＝69.7%</a:t>
            </a:r>
          </a:p>
          <a:p>
            <a:pPr>
              <a:spcAft>
                <a:spcPts val="0"/>
              </a:spcAft>
              <a:defRPr sz="1150" b="0">
                <a:solidFill>
                  <a:srgbClr val="17324D"/>
                </a:solidFill>
                <a:latin typeface="Noto Sans CJK TC"/>
              </a:defRPr>
            </a:pPr>
            <a:r>
              <a:t>0x14：10 月 1,949/2,623＝74.3%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56144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7324D"/>
                </a:solidFill>
                <a:latin typeface="Noto Sans CJK TC"/>
              </a:defRPr>
            </a:pPr>
            <a:r>
              <a:t>要比較真實供應商不良率：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5989320"/>
            <a:ext cx="37307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Noto Sans CJK TC"/>
              </a:defRPr>
            </a:pPr>
            <a:r>
              <a:t>需工單／CG 批號對應的供應商、</a:t>
            </a:r>
          </a:p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Noto Sans CJK TC"/>
              </a:defRPr>
            </a:pPr>
            <a:r>
              <a:t>各供應商實際投入數與不良數。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684264"/>
            <a:ext cx="113385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30" b="0">
                <a:solidFill>
                  <a:srgbClr val="64748B"/>
                </a:solidFill>
                <a:latin typeface="Noto Sans CJK TC"/>
              </a:defRPr>
            </a:pPr>
            <a:r>
              <a:t>來源：DAF_0x14彙整.xlsx 工作表1＋工作表2。所有加總保留原始141筆；CG重複日期未去重；7/1前過帳未提供；CG無10月資料。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兩家CG供應商不良涉及比例與集中性比較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