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來源：DAF_0x14彙整.xlsx，工作表2 B:C、E:F、H:I。以日期對齊三個獨立區域。月日按過帳日期推定為2026年。CG重複日期保留原始值與範圍，未平均；CG僅到9/30。過帳日期與供應商只能證明同日過帳，無法確認實際用料供應商或因果。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37744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7324D"/>
                </a:solidFill>
                <a:latin typeface="Noto Sans CJK TC"/>
              </a:defRPr>
            </a:pPr>
            <a:r>
              <a:t>CG 偏移、0x14 與 CG 供應商的時間關係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1323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Noto Sans CJK TC"/>
              </a:defRPr>
            </a:pPr>
            <a:r>
              <a:t>工作表2｜依日期對齊三個資料區域｜2026/7/1–10/13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097280"/>
            <a:ext cx="11420856" cy="640080"/>
          </a:xfrm>
          <a:prstGeom prst="roundRect">
            <a:avLst/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957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7324D"/>
                </a:solidFill>
                <a:latin typeface="Noto Sans CJK TC"/>
              </a:defRPr>
            </a:pPr>
            <a:r>
              <a:t>CG 最高紀錄在 9/4；0x14 於 10 月急升，10/6 達 14.45%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527048"/>
            <a:ext cx="109728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50" b="0">
                <a:solidFill>
                  <a:srgbClr val="64748B"/>
                </a:solidFill>
                <a:latin typeface="Noto Sans CJK TC"/>
              </a:defRPr>
            </a:pPr>
            <a:r>
              <a:t>同日過帳：9/4 為菲比特＋銳歐；10/6 為菲比特。實際用料供應商仍需批號追溯。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94767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7324D"/>
                </a:solidFill>
                <a:latin typeface="Noto Sans CJK TC"/>
              </a:defRPr>
            </a:pPr>
            <a:r>
              <a:t>同一時間軸｜不良率與供應商過帳日期</a:t>
            </a:r>
          </a:p>
        </p:txBody>
      </p:sp>
      <p:pic>
        <p:nvPicPr>
          <p:cNvPr id="9" name="Picture 8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322576"/>
            <a:ext cx="6903720" cy="3456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0" y="19476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17324D"/>
                </a:solidFill>
                <a:latin typeface="Noto Sans CJK TC"/>
              </a:defRPr>
            </a:pPr>
            <a:r>
              <a:t>重點日期對照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0" y="2386584"/>
          <a:ext cx="4462272" cy="2541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905256"/>
                <a:gridCol w="768096"/>
                <a:gridCol w="2221992"/>
              </a:tblGrid>
              <a:tr h="3630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日期</a:t>
                      </a:r>
                    </a:p>
                  </a:txBody>
                  <a:tcPr marL="64008" marR="27432" marT="36576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CG 偏移</a:t>
                      </a:r>
                    </a:p>
                  </a:txBody>
                  <a:tcPr marL="64008" marR="27432" marT="36576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0x14</a:t>
                      </a:r>
                    </a:p>
                  </a:txBody>
                  <a:tcPr marL="64008" marR="27432" marT="36576" marB="0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同日過帳供應商</a:t>
                      </a:r>
                    </a:p>
                  </a:txBody>
                  <a:tcPr marL="64008" marR="27432" marT="36576" marB="0" anchor="ctr">
                    <a:solidFill>
                      <a:srgbClr val="17324D"/>
                    </a:solidFill>
                  </a:tcPr>
                </a:tc>
              </a:tr>
              <a:tr h="36301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8/13</a:t>
                      </a:r>
                    </a:p>
                  </a:txBody>
                  <a:tcPr marL="64008" marR="27432" marT="36576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1.67%</a:t>
                      </a:r>
                    </a:p>
                  </a:txBody>
                  <a:tcPr marL="64008" marR="27432" marT="36576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0.18%</a:t>
                      </a:r>
                    </a:p>
                  </a:txBody>
                  <a:tcPr marL="64008" marR="27432" marT="36576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</a:t>
                      </a:r>
                    </a:p>
                  </a:txBody>
                  <a:tcPr marL="64008" marR="27432" marT="36576" marB="0" anchor="ctr">
                    <a:solidFill>
                      <a:srgbClr val="F3F6F9"/>
                    </a:solidFill>
                  </a:tcPr>
                </a:tc>
              </a:tr>
              <a:tr h="36301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9/4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 / 2.83%*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0.00%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菲比特＋銳歐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</a:tr>
              <a:tr h="36301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10/1</a:t>
                      </a:r>
                    </a:p>
                  </a:txBody>
                  <a:tcPr marL="64008" marR="27432" marT="36576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無資料</a:t>
                      </a:r>
                    </a:p>
                  </a:txBody>
                  <a:tcPr marL="64008" marR="27432" marT="36576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0.87%</a:t>
                      </a:r>
                    </a:p>
                  </a:txBody>
                  <a:tcPr marL="64008" marR="27432" marT="36576" marB="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菲比特＋銳歐</a:t>
                      </a:r>
                    </a:p>
                  </a:txBody>
                  <a:tcPr marL="64008" marR="27432" marT="36576" marB="0" anchor="ctr">
                    <a:solidFill>
                      <a:srgbClr val="F3F6F9"/>
                    </a:solidFill>
                  </a:tcPr>
                </a:tc>
              </a:tr>
              <a:tr h="36301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10/5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無資料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9.60%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無過帳紀錄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</a:tr>
              <a:tr h="3630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10/6</a:t>
                      </a:r>
                    </a:p>
                  </a:txBody>
                  <a:tcPr marL="64008" marR="27432" marT="36576" marB="0" anchor="ctr"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無資料</a:t>
                      </a:r>
                    </a:p>
                  </a:txBody>
                  <a:tcPr marL="64008" marR="27432" marT="36576" marB="0" anchor="ctr"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14.45%</a:t>
                      </a:r>
                    </a:p>
                  </a:txBody>
                  <a:tcPr marL="64008" marR="27432" marT="36576" marB="0" anchor="ctr">
                    <a:solidFill>
                      <a:srgbClr val="FF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</a:t>
                      </a:r>
                    </a:p>
                  </a:txBody>
                  <a:tcPr marL="64008" marR="27432" marT="36576" marB="0" anchor="ctr">
                    <a:solidFill>
                      <a:srgbClr val="FFF1EB"/>
                    </a:solidFill>
                  </a:tcPr>
                </a:tc>
              </a:tr>
              <a:tr h="36301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10/7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無資料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8.56%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7324D"/>
                          </a:solidFill>
                          <a:latin typeface="Noto Sans CJK TC"/>
                        </a:defRPr>
                      </a:pPr>
                      <a:r>
                        <a:t>菲比特</a:t>
                      </a:r>
                    </a:p>
                  </a:txBody>
                  <a:tcPr marL="64008" marR="27432" marT="36576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42631" y="5056632"/>
            <a:ext cx="44805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4748B"/>
                </a:solidFill>
                <a:latin typeface="Noto Sans CJK TC"/>
              </a:defRPr>
            </a:pPr>
            <a:r>
              <a:t>* 9/4 有兩筆不同數值；保留原始紀錄。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631" y="5404104"/>
            <a:ext cx="441655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Noto Sans CJK TC"/>
              </a:defRPr>
            </a:pPr>
            <a:r>
              <a:t>10/5 無過帳，不代表未使用 CG；</a:t>
            </a:r>
          </a:p>
          <a:p>
            <a:pPr>
              <a:spcAft>
                <a:spcPts val="0"/>
              </a:spcAft>
              <a:defRPr sz="1100" b="0">
                <a:solidFill>
                  <a:srgbClr val="64748B"/>
                </a:solidFill>
                <a:latin typeface="Noto Sans CJK TC"/>
              </a:defRPr>
            </a:pPr>
            <a:r>
              <a:t>亦不能直接沿用 10/1 的供應商。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5934456"/>
            <a:ext cx="11402568" cy="402336"/>
          </a:xfrm>
          <a:prstGeom prst="rect">
            <a:avLst/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998464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17324D"/>
                </a:solidFill>
                <a:latin typeface="Noto Sans CJK TC"/>
              </a:defRPr>
            </a:pPr>
            <a:r>
              <a:t>判讀：高峰日可對照過帳供應商；過帳 ≠ 實際用料，現有資料無法判定供應商因果。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43000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  <a:latin typeface="Noto Sans CJK TC"/>
              </a:defRPr>
            </a:pPr>
            <a:r>
              <a:t>來源：DAF_0x14彙整.xlsx「工作表2」B:C、E:F、H:I；月日依過帳日期推定為 2026 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629400"/>
            <a:ext cx="1143000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  <a:latin typeface="Noto Sans CJK TC"/>
              </a:defRPr>
            </a:pPr>
            <a:r>
              <a:t>CG 9/2、9/3、9/4、9/7 重複日期以菱形與範圍呈現，未平均；CG 僅到 9/30，無法比較 10 月同步性。供應商點僅表示過帳日。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CG偏移與0x14不良率、CG供應商時間關係</dc:title>
  <dc:subject>工作表2單頁分析；過帳供應商不是實際用料確認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